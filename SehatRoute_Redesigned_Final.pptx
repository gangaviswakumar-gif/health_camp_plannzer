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0B5A62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B5A62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C7293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3E9C8F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E8873A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C96A1F"/>
              </a:solidFill>
              <a:ln w="0">
                <a:noFill/>
              </a:ln>
            </c:spPr>
          </c:dPt>
          <c:dLbls>
            <c:dLbl>
              <c:idx val="0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F2937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F2937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F2937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F2937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\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F2937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F2937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Accessibility Need</c:v>
                </c:pt>
                <c:pt idx="1">
                  <c:v>Environmental Risk</c:v>
                </c:pt>
                <c:pt idx="2">
                  <c:v>Unresolved Cases</c:v>
                </c:pt>
                <c:pt idx="3">
                  <c:v>Outreach Evidence Gap</c:v>
                </c:pt>
                <c:pt idx="4">
                  <c:v>Vulnerability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gapWidth val="40"/>
        <c:overlap val="0"/>
        <c:axId val="11634626"/>
        <c:axId val="79803970"/>
      </c:barChart>
      <c:catAx>
        <c:axId val="1163462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50" b="0" u="none" strike="noStrike">
                <a:solidFill>
                  <a:srgbClr val="1F2937"/>
                </a:solidFill>
                <a:uFillTx/>
                <a:latin typeface="Calibri"/>
              </a:defRPr>
            </a:pPr>
          </a:p>
        </c:txPr>
        <c:crossAx val="79803970"/>
        <c:crosses val="autoZero"/>
        <c:auto val="1"/>
        <c:lblAlgn val="ctr"/>
        <c:lblOffset val="100"/>
        <c:noMultiLvlLbl val="0"/>
      </c:catAx>
      <c:valAx>
        <c:axId val="79803970"/>
        <c:scaling>
          <c:orientation val="minMax"/>
          <c:max val="35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163462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6FBFA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33BAB7-6302-4012-87EC-D74A2E8AEEF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8568A3-972E-4FF4-8E2C-43669E8B1C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8EB48D-3F7F-424D-A8AB-3BDFCD2C7C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373392-0FCC-4D8E-891F-619E2EB3B9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A0AE00-61B2-42C0-B4A8-74BA9C01A7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DE287F-496A-4E62-9DC1-C334452FBF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5EDCD3-DAF0-4FC5-8A9E-077CEB910F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DF8043-FCCD-4CC0-B141-59268C3527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A45510-C678-45F9-A91A-8988FF5FD3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EB776D-E885-403A-9B2F-07941318C6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3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 flipV="1">
            <a:off x="0" y="5038200"/>
            <a:ext cx="1331280" cy="1188720"/>
          </a:xfrm>
          <a:prstGeom prst="line">
            <a:avLst/>
          </a:prstGeom>
          <a:ln w="25400">
            <a:solidFill>
              <a:srgbClr val="3E8E8A">
                <a:alpha val="35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331280" y="5038200"/>
            <a:ext cx="1426320" cy="641880"/>
          </a:xfrm>
          <a:prstGeom prst="line">
            <a:avLst/>
          </a:prstGeom>
          <a:ln w="25400">
            <a:solidFill>
              <a:srgbClr val="3E8E8A">
                <a:alpha val="35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 flipV="1">
            <a:off x="2757600" y="4206240"/>
            <a:ext cx="1997280" cy="1473840"/>
          </a:xfrm>
          <a:prstGeom prst="line">
            <a:avLst/>
          </a:prstGeom>
          <a:ln w="25400">
            <a:solidFill>
              <a:srgbClr val="3E8E8A">
                <a:alpha val="35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-32040" y="6195240"/>
            <a:ext cx="63720" cy="63720"/>
          </a:xfrm>
          <a:prstGeom prst="ellipse">
            <a:avLst/>
          </a:prstGeom>
          <a:solidFill>
            <a:srgbClr val="3E8E8A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299240" y="5006520"/>
            <a:ext cx="63720" cy="63720"/>
          </a:xfrm>
          <a:prstGeom prst="ellipse">
            <a:avLst/>
          </a:prstGeom>
          <a:solidFill>
            <a:srgbClr val="3E8E8A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2725920" y="5648400"/>
            <a:ext cx="63720" cy="63720"/>
          </a:xfrm>
          <a:prstGeom prst="ellipse">
            <a:avLst/>
          </a:prstGeom>
          <a:solidFill>
            <a:srgbClr val="3E8E8A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4700160" y="4151520"/>
            <a:ext cx="109440" cy="109440"/>
          </a:xfrm>
          <a:prstGeom prst="ellipse">
            <a:avLst/>
          </a:prstGeom>
          <a:solidFill>
            <a:srgbClr val="3E8E8A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 flipV="1">
            <a:off x="8778240" y="1042200"/>
            <a:ext cx="921600" cy="1097280"/>
          </a:xfrm>
          <a:prstGeom prst="line">
            <a:avLst/>
          </a:prstGeom>
          <a:ln w="25400">
            <a:solidFill>
              <a:srgbClr val="3E8E8A">
                <a:alpha val="25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9699840" y="1042200"/>
            <a:ext cx="987480" cy="592560"/>
          </a:xfrm>
          <a:prstGeom prst="line">
            <a:avLst/>
          </a:prstGeom>
          <a:ln w="25400">
            <a:solidFill>
              <a:srgbClr val="3E8E8A">
                <a:alpha val="25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 flipV="1">
            <a:off x="10687320" y="274320"/>
            <a:ext cx="1382760" cy="1360440"/>
          </a:xfrm>
          <a:prstGeom prst="line">
            <a:avLst/>
          </a:prstGeom>
          <a:ln w="25400">
            <a:solidFill>
              <a:srgbClr val="3E8E8A">
                <a:alpha val="25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8746200" y="2107800"/>
            <a:ext cx="63720" cy="63720"/>
          </a:xfrm>
          <a:prstGeom prst="ellipse">
            <a:avLst/>
          </a:prstGeom>
          <a:solidFill>
            <a:srgbClr val="3E8E8A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9667800" y="1010520"/>
            <a:ext cx="63720" cy="63720"/>
          </a:xfrm>
          <a:prstGeom prst="ellipse">
            <a:avLst/>
          </a:prstGeom>
          <a:solidFill>
            <a:srgbClr val="3E8E8A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10655640" y="1603080"/>
            <a:ext cx="63720" cy="63720"/>
          </a:xfrm>
          <a:prstGeom prst="ellipse">
            <a:avLst/>
          </a:prstGeom>
          <a:solidFill>
            <a:srgbClr val="3E8E8A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12015360" y="219600"/>
            <a:ext cx="109440" cy="109440"/>
          </a:xfrm>
          <a:prstGeom prst="ellipse">
            <a:avLst/>
          </a:prstGeom>
          <a:solidFill>
            <a:srgbClr val="3E8E8A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822960" y="13716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E8873A"/>
                </a:solidFill>
                <a:effectLst/>
                <a:uFillTx/>
                <a:latin typeface="Calibri"/>
                <a:ea typeface="Calibri"/>
              </a:rPr>
              <a:t>HACKATHON PROJECT  ·  PUBLIC HEALTH TECH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777240" y="1828800"/>
            <a:ext cx="96008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Sehat</a:t>
            </a:r>
            <a:r>
              <a:rPr lang="en-US" sz="80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Route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822960" y="342900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CFE8E5"/>
                </a:solidFill>
                <a:effectLst/>
                <a:uFillTx/>
                <a:latin typeface="Calibri"/>
                <a:ea typeface="Calibri"/>
              </a:rPr>
              <a:t>A transparent, data-driven decision-support tool for public health planners in low-resource settings.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822960" y="4617720"/>
            <a:ext cx="1375920" cy="411120"/>
          </a:xfrm>
          <a:prstGeom prst="roundRect">
            <a:avLst>
              <a:gd name="adj" fmla="val 48889"/>
            </a:avLst>
          </a:prstGeom>
          <a:solidFill>
            <a:srgbClr val="0F4A50"/>
          </a:solidFill>
          <a:ln w="12700">
            <a:solidFill>
              <a:srgbClr val="3E8E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822960" y="4617720"/>
            <a:ext cx="1375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Data-Driven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2400480" y="4617720"/>
            <a:ext cx="1375920" cy="411120"/>
          </a:xfrm>
          <a:prstGeom prst="roundRect">
            <a:avLst>
              <a:gd name="adj" fmla="val 48889"/>
            </a:avLst>
          </a:prstGeom>
          <a:solidFill>
            <a:srgbClr val="0F4A50"/>
          </a:solidFill>
          <a:ln w="12700">
            <a:solidFill>
              <a:srgbClr val="3E8E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2400480" y="4617720"/>
            <a:ext cx="1375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Transparent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3977640" y="4617720"/>
            <a:ext cx="1183680" cy="411120"/>
          </a:xfrm>
          <a:prstGeom prst="roundRect">
            <a:avLst>
              <a:gd name="adj" fmla="val 48889"/>
            </a:avLst>
          </a:prstGeom>
          <a:solidFill>
            <a:srgbClr val="0F4A50"/>
          </a:solidFill>
          <a:ln w="12700">
            <a:solidFill>
              <a:srgbClr val="3E8E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3977640" y="4617720"/>
            <a:ext cx="1183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Equitable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10195560" y="4709160"/>
            <a:ext cx="1371240" cy="1371240"/>
          </a:xfrm>
          <a:prstGeom prst="ellipse">
            <a:avLst/>
          </a:prstGeom>
          <a:solidFill>
            <a:srgbClr val="0F4A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/home/claude/icons/route_light.png"/>
          <p:cNvPicPr/>
          <p:nvPr/>
        </p:nvPicPr>
        <p:blipFill>
          <a:blip r:embed="rId1"/>
          <a:stretch/>
        </p:blipFill>
        <p:spPr>
          <a:xfrm>
            <a:off x="10524600" y="5038200"/>
            <a:ext cx="712800" cy="71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Shape 24"/>
          <p:cNvSpPr/>
          <p:nvPr/>
        </p:nvSpPr>
        <p:spPr>
          <a:xfrm>
            <a:off x="10113120" y="4626720"/>
            <a:ext cx="1535760" cy="1535760"/>
          </a:xfrm>
          <a:prstGeom prst="ellipse">
            <a:avLst/>
          </a:prstGeom>
          <a:noFill/>
          <a:ln w="19050">
            <a:solidFill>
              <a:srgbClr val="3E8E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64008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96A1F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640080" y="7498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More Camps ≠ Better Access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640080" y="150876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The central challenge is not the absence of health camps — it is prioritization. When several villages need support, planners need a reliable way to identify which locations face the greatest barriers to healthcare access.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" name=""/>
          <p:cNvGrpSpPr/>
          <p:nvPr/>
        </p:nvGrpSpPr>
        <p:grpSpPr>
          <a:xfrm>
            <a:off x="640080" y="2514600"/>
            <a:ext cx="3346200" cy="3382920"/>
            <a:chOff x="640080" y="2514600"/>
            <a:chExt cx="3346200" cy="3382920"/>
          </a:xfrm>
        </p:grpSpPr>
        <p:sp>
          <p:nvSpPr>
            <p:cNvPr id="40" name="Shape 3"/>
            <p:cNvSpPr/>
            <p:nvPr/>
          </p:nvSpPr>
          <p:spPr>
            <a:xfrm>
              <a:off x="640080" y="2514600"/>
              <a:ext cx="3346200" cy="3382920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0">
              <a:noFill/>
            </a:ln>
            <a:effectLst>
              <a:outerShdw algn="bl" blurRad="127080" dir="5400000" dist="38160" kx="0" ky="0" rotWithShape="0" sx="100000" sy="100000">
                <a:srgbClr val="0B5A62">
                  <a:alpha val="1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Shape 4"/>
            <p:cNvSpPr/>
            <p:nvPr/>
          </p:nvSpPr>
          <p:spPr>
            <a:xfrm>
              <a:off x="1856160" y="2743200"/>
              <a:ext cx="914040" cy="914040"/>
            </a:xfrm>
            <a:prstGeom prst="ellipse">
              <a:avLst/>
            </a:prstGeom>
            <a:solidFill>
              <a:srgbClr val="E3F0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2" name="Image 0" descr="/home/claude/icons/target_teal.png"/>
            <p:cNvPicPr/>
            <p:nvPr/>
          </p:nvPicPr>
          <p:blipFill>
            <a:blip r:embed="rId1"/>
            <a:stretch/>
          </p:blipFill>
          <p:spPr>
            <a:xfrm>
              <a:off x="2075760" y="2962800"/>
              <a:ext cx="475200" cy="475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" name="Text 5"/>
            <p:cNvSpPr/>
            <p:nvPr/>
          </p:nvSpPr>
          <p:spPr>
            <a:xfrm>
              <a:off x="896040" y="3886200"/>
              <a:ext cx="2834280" cy="68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10000"/>
                </a:lnSpc>
                <a:tabLst>
                  <a:tab pos="0" algn="l"/>
                </a:tabLst>
              </a:pPr>
              <a:r>
                <a:rPr lang="en-US" sz="1650" b="1" u="none" strike="noStrike">
                  <a:solidFill>
                    <a:srgbClr val="1F2937"/>
                  </a:solidFill>
                  <a:effectLst/>
                  <a:uFillTx/>
                  <a:latin typeface="Cambria"/>
                  <a:ea typeface="Cambria"/>
                </a:rPr>
                <a:t>Not Absence — Prioritization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Text 6"/>
            <p:cNvSpPr/>
            <p:nvPr/>
          </p:nvSpPr>
          <p:spPr>
            <a:xfrm>
              <a:off x="932760" y="4572000"/>
              <a:ext cx="2761200" cy="12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1250" b="0" u="none" strike="noStrike">
                  <a:solidFill>
                    <a:srgbClr val="5B6B6E"/>
                  </a:solidFill>
                  <a:effectLst/>
                  <a:uFillTx/>
                  <a:latin typeface="Calibri"/>
                  <a:ea typeface="Calibri"/>
                </a:rPr>
                <a:t>With limited teams and budgets, the real question is which villages need support first, not whether camps exist at all.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" name=""/>
          <p:cNvGrpSpPr/>
          <p:nvPr/>
        </p:nvGrpSpPr>
        <p:grpSpPr>
          <a:xfrm>
            <a:off x="4242960" y="2514600"/>
            <a:ext cx="3346200" cy="3382920"/>
            <a:chOff x="4242960" y="2514600"/>
            <a:chExt cx="3346200" cy="3382920"/>
          </a:xfrm>
        </p:grpSpPr>
        <p:sp>
          <p:nvSpPr>
            <p:cNvPr id="46" name="Shape 7"/>
            <p:cNvSpPr/>
            <p:nvPr/>
          </p:nvSpPr>
          <p:spPr>
            <a:xfrm>
              <a:off x="4242960" y="2514600"/>
              <a:ext cx="3346200" cy="3382920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0">
              <a:noFill/>
            </a:ln>
            <a:effectLst>
              <a:outerShdw algn="bl" blurRad="127080" dir="5400000" dist="38160" kx="0" ky="0" rotWithShape="0" sx="100000" sy="100000">
                <a:srgbClr val="0B5A62">
                  <a:alpha val="1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Shape 8"/>
            <p:cNvSpPr/>
            <p:nvPr/>
          </p:nvSpPr>
          <p:spPr>
            <a:xfrm>
              <a:off x="5459040" y="2743200"/>
              <a:ext cx="914040" cy="914040"/>
            </a:xfrm>
            <a:prstGeom prst="ellipse">
              <a:avLst/>
            </a:prstGeom>
            <a:solidFill>
              <a:srgbClr val="E3F0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8" name="Image 1" descr="/home/claude/icons/mappin_teal.png"/>
            <p:cNvPicPr/>
            <p:nvPr/>
          </p:nvPicPr>
          <p:blipFill>
            <a:blip r:embed="rId2"/>
            <a:stretch/>
          </p:blipFill>
          <p:spPr>
            <a:xfrm>
              <a:off x="5678280" y="2962800"/>
              <a:ext cx="475200" cy="475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" name="Text 9"/>
            <p:cNvSpPr/>
            <p:nvPr/>
          </p:nvSpPr>
          <p:spPr>
            <a:xfrm>
              <a:off x="4498920" y="3886200"/>
              <a:ext cx="2834280" cy="68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10000"/>
                </a:lnSpc>
                <a:tabLst>
                  <a:tab pos="0" algn="l"/>
                </a:tabLst>
              </a:pPr>
              <a:r>
                <a:rPr lang="en-US" sz="1650" b="1" u="none" strike="noStrike">
                  <a:solidFill>
                    <a:srgbClr val="1F2937"/>
                  </a:solidFill>
                  <a:effectLst/>
                  <a:uFillTx/>
                  <a:latin typeface="Cambria"/>
                  <a:ea typeface="Cambria"/>
                </a:rPr>
                <a:t>Distance Alone Is Not Enough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Text 10"/>
            <p:cNvSpPr/>
            <p:nvPr/>
          </p:nvSpPr>
          <p:spPr>
            <a:xfrm>
              <a:off x="4535280" y="4572000"/>
              <a:ext cx="2761200" cy="12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1250" b="0" u="none" strike="noStrike">
                  <a:solidFill>
                    <a:srgbClr val="5B6B6E"/>
                  </a:solidFill>
                  <a:effectLst/>
                  <a:uFillTx/>
                  <a:latin typeface="Calibri"/>
                  <a:ea typeface="Calibri"/>
                </a:rPr>
                <a:t>Ranking by proximity or population misses environmental risk, vulnerable groups, and gaps in outreach evidence.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" name=""/>
          <p:cNvGrpSpPr/>
          <p:nvPr/>
        </p:nvGrpSpPr>
        <p:grpSpPr>
          <a:xfrm>
            <a:off x="7845480" y="2514600"/>
            <a:ext cx="3346200" cy="3382920"/>
            <a:chOff x="7845480" y="2514600"/>
            <a:chExt cx="3346200" cy="3382920"/>
          </a:xfrm>
        </p:grpSpPr>
        <p:sp>
          <p:nvSpPr>
            <p:cNvPr id="52" name="Shape 11"/>
            <p:cNvSpPr/>
            <p:nvPr/>
          </p:nvSpPr>
          <p:spPr>
            <a:xfrm>
              <a:off x="7845480" y="2514600"/>
              <a:ext cx="3346200" cy="3382920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0">
              <a:noFill/>
            </a:ln>
            <a:effectLst>
              <a:outerShdw algn="bl" blurRad="127080" dir="5400000" dist="38160" kx="0" ky="0" rotWithShape="0" sx="100000" sy="100000">
                <a:srgbClr val="0B5A62">
                  <a:alpha val="1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Shape 12"/>
            <p:cNvSpPr/>
            <p:nvPr/>
          </p:nvSpPr>
          <p:spPr>
            <a:xfrm>
              <a:off x="9061560" y="2743200"/>
              <a:ext cx="914040" cy="914040"/>
            </a:xfrm>
            <a:prstGeom prst="ellipse">
              <a:avLst/>
            </a:prstGeom>
            <a:solidFill>
              <a:srgbClr val="E3F0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4" name="Image 2" descr="/home/claude/icons/filesearch_teal.png"/>
            <p:cNvPicPr/>
            <p:nvPr/>
          </p:nvPicPr>
          <p:blipFill>
            <a:blip r:embed="rId3"/>
            <a:stretch/>
          </p:blipFill>
          <p:spPr>
            <a:xfrm>
              <a:off x="9281160" y="2962800"/>
              <a:ext cx="475200" cy="475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Text 13"/>
            <p:cNvSpPr/>
            <p:nvPr/>
          </p:nvSpPr>
          <p:spPr>
            <a:xfrm>
              <a:off x="8101440" y="3886200"/>
              <a:ext cx="2834280" cy="68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10000"/>
                </a:lnSpc>
                <a:tabLst>
                  <a:tab pos="0" algn="l"/>
                </a:tabLst>
              </a:pPr>
              <a:r>
                <a:rPr lang="en-US" sz="1650" b="1" u="none" strike="noStrike">
                  <a:solidFill>
                    <a:srgbClr val="1F2937"/>
                  </a:solidFill>
                  <a:effectLst/>
                  <a:uFillTx/>
                  <a:latin typeface="Cambria"/>
                  <a:ea typeface="Cambria"/>
                </a:rPr>
                <a:t>What's Missing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Text 14"/>
            <p:cNvSpPr/>
            <p:nvPr/>
          </p:nvSpPr>
          <p:spPr>
            <a:xfrm>
              <a:off x="8138160" y="4572000"/>
              <a:ext cx="2761200" cy="123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1250" b="0" u="none" strike="noStrike">
                  <a:solidFill>
                    <a:srgbClr val="5B6B6E"/>
                  </a:solidFill>
                  <a:effectLst/>
                  <a:uFillTx/>
                  <a:latin typeface="Calibri"/>
                  <a:ea typeface="Calibri"/>
                </a:rPr>
                <a:t>A single, explainable model that brings all these factors together to guide smarter, fairer scheduling decisions.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" name="Text 15"/>
          <p:cNvSpPr/>
          <p:nvPr/>
        </p:nvSpPr>
        <p:spPr>
          <a:xfrm>
            <a:off x="640080" y="6355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Sehat</a:t>
            </a:r>
            <a:r>
              <a:rPr lang="en-US" sz="12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Route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7B8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64008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96A1F"/>
                </a:solidFill>
                <a:effectLst/>
                <a:uFillTx/>
                <a:latin typeface="Calibri"/>
                <a:ea typeface="Calibri"/>
              </a:rPr>
              <a:t>OUR SOLUTION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640080" y="749880"/>
            <a:ext cx="640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What SehatRoute Does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"/>
          <p:cNvGrpSpPr/>
          <p:nvPr/>
        </p:nvGrpSpPr>
        <p:grpSpPr>
          <a:xfrm>
            <a:off x="640080" y="1600200"/>
            <a:ext cx="6034680" cy="3520080"/>
            <a:chOff x="640080" y="1600200"/>
            <a:chExt cx="6034680" cy="3520080"/>
          </a:xfrm>
        </p:grpSpPr>
        <p:sp>
          <p:nvSpPr>
            <p:cNvPr id="62" name="Text 2"/>
            <p:cNvSpPr/>
            <p:nvPr/>
          </p:nvSpPr>
          <p:spPr>
            <a:xfrm>
              <a:off x="640080" y="1600200"/>
              <a:ext cx="60346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00" b="1" u="none" strike="noStrike">
                  <a:solidFill>
                    <a:srgbClr val="0B5A62"/>
                  </a:solidFill>
                  <a:effectLst/>
                  <a:uFillTx/>
                  <a:latin typeface="Cambria"/>
                  <a:ea typeface="Cambria"/>
                </a:rPr>
                <a:t>A Decision-Support Dashboard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Text 3"/>
            <p:cNvSpPr/>
            <p:nvPr/>
          </p:nvSpPr>
          <p:spPr>
            <a:xfrm>
              <a:off x="640080" y="2057400"/>
              <a:ext cx="6034680" cy="77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30000"/>
                </a:lnSpc>
                <a:tabLst>
                  <a:tab pos="0" algn="l"/>
                </a:tabLst>
              </a:pPr>
              <a:r>
                <a:rPr lang="en-US" sz="1350" b="0" u="none" strike="noStrike">
                  <a:solidFill>
                    <a:srgbClr val="5B6B6E"/>
                  </a:solidFill>
                  <a:effectLst/>
                  <a:uFillTx/>
                  <a:latin typeface="Calibri"/>
                  <a:ea typeface="Calibri"/>
                </a:rPr>
                <a:t>SehatRoute ranks villages according to their need for health outreach and shows the exact reasons behind every recommendation.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Shape 4"/>
            <p:cNvSpPr/>
            <p:nvPr/>
          </p:nvSpPr>
          <p:spPr>
            <a:xfrm>
              <a:off x="640080" y="3026520"/>
              <a:ext cx="237240" cy="237240"/>
            </a:xfrm>
            <a:prstGeom prst="ellipse">
              <a:avLst/>
            </a:prstGeom>
            <a:solidFill>
              <a:srgbClr val="E887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 5"/>
            <p:cNvSpPr/>
            <p:nvPr/>
          </p:nvSpPr>
          <p:spPr>
            <a:xfrm>
              <a:off x="640080" y="300852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 6"/>
            <p:cNvSpPr/>
            <p:nvPr/>
          </p:nvSpPr>
          <p:spPr>
            <a:xfrm>
              <a:off x="1005840" y="2971800"/>
              <a:ext cx="557748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1F2937"/>
                  </a:solidFill>
                  <a:effectLst/>
                  <a:uFillTx/>
                  <a:latin typeface="Calibri"/>
                  <a:ea typeface="Calibri"/>
                </a:rPr>
                <a:t>Does not diagnose patients or replace medical judgment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Shape 7"/>
            <p:cNvSpPr/>
            <p:nvPr/>
          </p:nvSpPr>
          <p:spPr>
            <a:xfrm>
              <a:off x="640080" y="3803760"/>
              <a:ext cx="237240" cy="237240"/>
            </a:xfrm>
            <a:prstGeom prst="ellipse">
              <a:avLst/>
            </a:prstGeom>
            <a:solidFill>
              <a:srgbClr val="E887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 8"/>
            <p:cNvSpPr/>
            <p:nvPr/>
          </p:nvSpPr>
          <p:spPr>
            <a:xfrm>
              <a:off x="640080" y="378576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 9"/>
            <p:cNvSpPr/>
            <p:nvPr/>
          </p:nvSpPr>
          <p:spPr>
            <a:xfrm>
              <a:off x="1005840" y="3749040"/>
              <a:ext cx="557748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1F2937"/>
                  </a:solidFill>
                  <a:effectLst/>
                  <a:uFillTx/>
                  <a:latin typeface="Calibri"/>
                  <a:ea typeface="Calibri"/>
                </a:rPr>
                <a:t>Helps planners decide where to investigate, verify, and schedule outreach first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Shape 10"/>
            <p:cNvSpPr/>
            <p:nvPr/>
          </p:nvSpPr>
          <p:spPr>
            <a:xfrm>
              <a:off x="640080" y="4581000"/>
              <a:ext cx="237240" cy="237240"/>
            </a:xfrm>
            <a:prstGeom prst="ellipse">
              <a:avLst/>
            </a:prstGeom>
            <a:solidFill>
              <a:srgbClr val="E887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 11"/>
            <p:cNvSpPr/>
            <p:nvPr/>
          </p:nvSpPr>
          <p:spPr>
            <a:xfrm>
              <a:off x="640080" y="456300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 12"/>
            <p:cNvSpPr/>
            <p:nvPr/>
          </p:nvSpPr>
          <p:spPr>
            <a:xfrm>
              <a:off x="1005840" y="4526280"/>
              <a:ext cx="557748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1F2937"/>
                  </a:solidFill>
                  <a:effectLst/>
                  <a:uFillTx/>
                  <a:latin typeface="Calibri"/>
                  <a:ea typeface="Calibri"/>
                </a:rPr>
                <a:t>Every recommendation comes with a transparent, auditable decision trail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"/>
          <p:cNvGrpSpPr/>
          <p:nvPr/>
        </p:nvGrpSpPr>
        <p:grpSpPr>
          <a:xfrm>
            <a:off x="7178040" y="1554480"/>
            <a:ext cx="4388760" cy="4663080"/>
            <a:chOff x="7178040" y="1554480"/>
            <a:chExt cx="4388760" cy="4663080"/>
          </a:xfrm>
        </p:grpSpPr>
        <p:sp>
          <p:nvSpPr>
            <p:cNvPr id="74" name="Shape 13"/>
            <p:cNvSpPr/>
            <p:nvPr/>
          </p:nvSpPr>
          <p:spPr>
            <a:xfrm>
              <a:off x="7178040" y="1554480"/>
              <a:ext cx="4388760" cy="466308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0">
              <a:noFill/>
            </a:ln>
            <a:effectLst>
              <a:outerShdw algn="bl" blurRad="127080" dir="5400000" dist="38160" kx="0" ky="0" rotWithShape="0" sx="100000" sy="100000">
                <a:srgbClr val="0B5A62">
                  <a:alpha val="1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Shape 14"/>
            <p:cNvSpPr/>
            <p:nvPr/>
          </p:nvSpPr>
          <p:spPr>
            <a:xfrm>
              <a:off x="7406640" y="1783080"/>
              <a:ext cx="3931560" cy="456840"/>
            </a:xfrm>
            <a:prstGeom prst="roundRect">
              <a:avLst>
                <a:gd name="adj" fmla="val 12000"/>
              </a:avLst>
            </a:prstGeom>
            <a:solidFill>
              <a:srgbClr val="0B5A6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 15"/>
            <p:cNvSpPr/>
            <p:nvPr/>
          </p:nvSpPr>
          <p:spPr>
            <a:xfrm>
              <a:off x="7589520" y="1783080"/>
              <a:ext cx="35658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Village Priority Map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Shape 16"/>
            <p:cNvSpPr/>
            <p:nvPr/>
          </p:nvSpPr>
          <p:spPr>
            <a:xfrm>
              <a:off x="7406640" y="2377440"/>
              <a:ext cx="3931560" cy="2377080"/>
            </a:xfrm>
            <a:prstGeom prst="roundRect">
              <a:avLst>
                <a:gd name="adj" fmla="val 2308"/>
              </a:avLst>
            </a:prstGeom>
            <a:solidFill>
              <a:srgbClr val="EAF4F2"/>
            </a:solidFill>
            <a:ln w="12700">
              <a:solidFill>
                <a:srgbClr val="D5E7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Shape 17"/>
            <p:cNvSpPr/>
            <p:nvPr/>
          </p:nvSpPr>
          <p:spPr>
            <a:xfrm>
              <a:off x="8001000" y="2743200"/>
              <a:ext cx="200880" cy="200880"/>
            </a:xfrm>
            <a:prstGeom prst="ellipse">
              <a:avLst/>
            </a:prstGeom>
            <a:solidFill>
              <a:srgbClr val="E8873A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Shape 18"/>
            <p:cNvSpPr/>
            <p:nvPr/>
          </p:nvSpPr>
          <p:spPr>
            <a:xfrm>
              <a:off x="8823960" y="3474720"/>
              <a:ext cx="200880" cy="200880"/>
            </a:xfrm>
            <a:prstGeom prst="ellipse">
              <a:avLst/>
            </a:prstGeom>
            <a:solidFill>
              <a:srgbClr val="D64545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Shape 19"/>
            <p:cNvSpPr/>
            <p:nvPr/>
          </p:nvSpPr>
          <p:spPr>
            <a:xfrm>
              <a:off x="9555480" y="2971800"/>
              <a:ext cx="200880" cy="200880"/>
            </a:xfrm>
            <a:prstGeom prst="ellipse">
              <a:avLst/>
            </a:prstGeom>
            <a:solidFill>
              <a:srgbClr val="E8873A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Shape 20"/>
            <p:cNvSpPr/>
            <p:nvPr/>
          </p:nvSpPr>
          <p:spPr>
            <a:xfrm>
              <a:off x="10287000" y="3886200"/>
              <a:ext cx="200880" cy="200880"/>
            </a:xfrm>
            <a:prstGeom prst="ellipse">
              <a:avLst/>
            </a:prstGeom>
            <a:solidFill>
              <a:srgbClr val="0B5A6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Shape 21"/>
            <p:cNvSpPr/>
            <p:nvPr/>
          </p:nvSpPr>
          <p:spPr>
            <a:xfrm>
              <a:off x="8366760" y="4206240"/>
              <a:ext cx="200880" cy="200880"/>
            </a:xfrm>
            <a:prstGeom prst="ellipse">
              <a:avLst/>
            </a:prstGeom>
            <a:solidFill>
              <a:srgbClr val="0B5A6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Shape 22"/>
            <p:cNvSpPr/>
            <p:nvPr/>
          </p:nvSpPr>
          <p:spPr>
            <a:xfrm>
              <a:off x="10744200" y="2788920"/>
              <a:ext cx="200880" cy="200880"/>
            </a:xfrm>
            <a:prstGeom prst="ellipse">
              <a:avLst/>
            </a:prstGeom>
            <a:solidFill>
              <a:srgbClr val="D64545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Shape 23"/>
            <p:cNvSpPr/>
            <p:nvPr/>
          </p:nvSpPr>
          <p:spPr>
            <a:xfrm>
              <a:off x="9189720" y="4206240"/>
              <a:ext cx="200880" cy="200880"/>
            </a:xfrm>
            <a:prstGeom prst="ellipse">
              <a:avLst/>
            </a:prstGeom>
            <a:solidFill>
              <a:srgbClr val="E8873A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Shape 24"/>
            <p:cNvSpPr/>
            <p:nvPr/>
          </p:nvSpPr>
          <p:spPr>
            <a:xfrm>
              <a:off x="11018520" y="4160520"/>
              <a:ext cx="200880" cy="200880"/>
            </a:xfrm>
            <a:prstGeom prst="ellipse">
              <a:avLst/>
            </a:prstGeom>
            <a:solidFill>
              <a:srgbClr val="0B5A6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Shape 25"/>
            <p:cNvSpPr/>
            <p:nvPr/>
          </p:nvSpPr>
          <p:spPr>
            <a:xfrm>
              <a:off x="7406640" y="4800600"/>
              <a:ext cx="3931560" cy="383760"/>
            </a:xfrm>
            <a:prstGeom prst="roundRect">
              <a:avLst>
                <a:gd name="adj" fmla="val 14286"/>
              </a:avLst>
            </a:prstGeom>
            <a:solidFill>
              <a:srgbClr val="FBFDFC"/>
            </a:solidFill>
            <a:ln w="12700">
              <a:solidFill>
                <a:srgbClr val="EAF0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Shape 26"/>
            <p:cNvSpPr/>
            <p:nvPr/>
          </p:nvSpPr>
          <p:spPr>
            <a:xfrm>
              <a:off x="7562160" y="4928760"/>
              <a:ext cx="127800" cy="127800"/>
            </a:xfrm>
            <a:prstGeom prst="ellipse">
              <a:avLst/>
            </a:prstGeom>
            <a:solidFill>
              <a:srgbClr val="D6454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Text 27"/>
            <p:cNvSpPr/>
            <p:nvPr/>
          </p:nvSpPr>
          <p:spPr>
            <a:xfrm>
              <a:off x="7799760" y="4800600"/>
              <a:ext cx="228564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F2937"/>
                  </a:solidFill>
                  <a:effectLst/>
                  <a:uFillTx/>
                  <a:latin typeface="Calibri"/>
                  <a:ea typeface="Calibri"/>
                </a:rPr>
                <a:t>High Priority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Shape 28"/>
            <p:cNvSpPr/>
            <p:nvPr/>
          </p:nvSpPr>
          <p:spPr>
            <a:xfrm>
              <a:off x="7406640" y="5276160"/>
              <a:ext cx="3931560" cy="383760"/>
            </a:xfrm>
            <a:prstGeom prst="roundRect">
              <a:avLst>
                <a:gd name="adj" fmla="val 14286"/>
              </a:avLst>
            </a:prstGeom>
            <a:solidFill>
              <a:srgbClr val="FBFDFC"/>
            </a:solidFill>
            <a:ln w="12700">
              <a:solidFill>
                <a:srgbClr val="EAF0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Shape 29"/>
            <p:cNvSpPr/>
            <p:nvPr/>
          </p:nvSpPr>
          <p:spPr>
            <a:xfrm>
              <a:off x="7562160" y="5403960"/>
              <a:ext cx="127800" cy="127800"/>
            </a:xfrm>
            <a:prstGeom prst="ellipse">
              <a:avLst/>
            </a:prstGeom>
            <a:solidFill>
              <a:srgbClr val="E887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Text 30"/>
            <p:cNvSpPr/>
            <p:nvPr/>
          </p:nvSpPr>
          <p:spPr>
            <a:xfrm>
              <a:off x="7799760" y="5276160"/>
              <a:ext cx="228564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F2937"/>
                  </a:solidFill>
                  <a:effectLst/>
                  <a:uFillTx/>
                  <a:latin typeface="Calibri"/>
                  <a:ea typeface="Calibri"/>
                </a:rPr>
                <a:t>Medium Priority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Shape 31"/>
            <p:cNvSpPr/>
            <p:nvPr/>
          </p:nvSpPr>
          <p:spPr>
            <a:xfrm>
              <a:off x="7406640" y="5751720"/>
              <a:ext cx="3931560" cy="383760"/>
            </a:xfrm>
            <a:prstGeom prst="roundRect">
              <a:avLst>
                <a:gd name="adj" fmla="val 14286"/>
              </a:avLst>
            </a:prstGeom>
            <a:solidFill>
              <a:srgbClr val="FBFDFC"/>
            </a:solidFill>
            <a:ln w="12700">
              <a:solidFill>
                <a:srgbClr val="EAF0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Shape 32"/>
            <p:cNvSpPr/>
            <p:nvPr/>
          </p:nvSpPr>
          <p:spPr>
            <a:xfrm>
              <a:off x="7562160" y="5879520"/>
              <a:ext cx="127800" cy="127800"/>
            </a:xfrm>
            <a:prstGeom prst="ellipse">
              <a:avLst/>
            </a:prstGeom>
            <a:solidFill>
              <a:srgbClr val="0B5A6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 33"/>
            <p:cNvSpPr/>
            <p:nvPr/>
          </p:nvSpPr>
          <p:spPr>
            <a:xfrm>
              <a:off x="7799760" y="5751720"/>
              <a:ext cx="228564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F2937"/>
                  </a:solidFill>
                  <a:effectLst/>
                  <a:uFillTx/>
                  <a:latin typeface="Calibri"/>
                  <a:ea typeface="Calibri"/>
                </a:rPr>
                <a:t>Low Priority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Text 34"/>
          <p:cNvSpPr/>
          <p:nvPr/>
        </p:nvSpPr>
        <p:spPr>
          <a:xfrm>
            <a:off x="640080" y="6355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Sehat</a:t>
            </a:r>
            <a:r>
              <a:rPr lang="en-US" sz="12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Route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5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7B8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64008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96A1F"/>
                </a:solidFill>
                <a:effectLst/>
                <a:uFillTx/>
                <a:latin typeface="Calibri"/>
                <a:ea typeface="Calibri"/>
              </a:rPr>
              <a:t>THE MODEL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640080" y="7498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How the Scoring Works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640080" y="14630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Each factor is converted into a score out of 100 and combined using adjustable weights. The default weighting reflects the relative importance of each barrier to healthcare access.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Chart 0"/>
          <p:cNvGraphicFramePr/>
          <p:nvPr/>
        </p:nvGraphicFramePr>
        <p:xfrm>
          <a:off x="548640" y="2286000"/>
          <a:ext cx="6034680" cy="40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01" name="Image 0" descr="/home/claude/icons/mappin_teal.png"/>
          <p:cNvPicPr/>
          <p:nvPr/>
        </p:nvPicPr>
        <p:blipFill>
          <a:blip r:embed="rId2"/>
          <a:stretch/>
        </p:blipFill>
        <p:spPr>
          <a:xfrm>
            <a:off x="6903720" y="22219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3"/>
          <p:cNvSpPr/>
          <p:nvPr/>
        </p:nvSpPr>
        <p:spPr>
          <a:xfrm>
            <a:off x="7406640" y="21488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Accessibility Need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7406640" y="245052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Distance and transport barriers to the nearest facility.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1" descr="/home/claude/icons/cloudrain_teal.png"/>
          <p:cNvPicPr/>
          <p:nvPr/>
        </p:nvPicPr>
        <p:blipFill>
          <a:blip r:embed="rId3"/>
          <a:stretch/>
        </p:blipFill>
        <p:spPr>
          <a:xfrm>
            <a:off x="6903720" y="30632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5"/>
          <p:cNvSpPr/>
          <p:nvPr/>
        </p:nvSpPr>
        <p:spPr>
          <a:xfrm>
            <a:off x="7406640" y="29901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Environmental Risk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7406640" y="329184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Flood, terrain, and seasonal hazards affecting access.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2" descr="/home/claude/icons/stethoscope_teal.png"/>
          <p:cNvPicPr/>
          <p:nvPr/>
        </p:nvPicPr>
        <p:blipFill>
          <a:blip r:embed="rId4"/>
          <a:stretch/>
        </p:blipFill>
        <p:spPr>
          <a:xfrm>
            <a:off x="6903720" y="39045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7"/>
          <p:cNvSpPr/>
          <p:nvPr/>
        </p:nvSpPr>
        <p:spPr>
          <a:xfrm>
            <a:off x="7406640" y="38314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Unresolved Cases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7406640" y="413316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Proxy indicator for unmet health needs in the community.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3" descr="/home/claude/icons/filesearch_teal.png"/>
          <p:cNvPicPr/>
          <p:nvPr/>
        </p:nvPicPr>
        <p:blipFill>
          <a:blip r:embed="rId5"/>
          <a:stretch/>
        </p:blipFill>
        <p:spPr>
          <a:xfrm>
            <a:off x="6903720" y="47458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9"/>
          <p:cNvSpPr/>
          <p:nvPr/>
        </p:nvSpPr>
        <p:spPr>
          <a:xfrm>
            <a:off x="7406640" y="46724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Outreach Evidence Gap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7406640" y="497448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Lack of recent verified outreach or screening data.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4" descr="/home/claude/icons/users_teal.png"/>
          <p:cNvPicPr/>
          <p:nvPr/>
        </p:nvPicPr>
        <p:blipFill>
          <a:blip r:embed="rId6"/>
          <a:stretch/>
        </p:blipFill>
        <p:spPr>
          <a:xfrm>
            <a:off x="6903720" y="55868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11"/>
          <p:cNvSpPr/>
          <p:nvPr/>
        </p:nvSpPr>
        <p:spPr>
          <a:xfrm>
            <a:off x="7406640" y="55137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Vulnerability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7406640" y="581544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Proportion of children and elderly residents.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640080" y="6355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Sehat</a:t>
            </a:r>
            <a:r>
              <a:rPr lang="en-US" sz="12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Route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7B8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9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5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1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0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64008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96A1F"/>
                </a:solidFill>
                <a:effectLst/>
                <a:uFillTx/>
                <a:latin typeface="Calibri"/>
                <a:ea typeface="Calibri"/>
              </a:rPr>
              <a:t>THE DASHBOARD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640080" y="7498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From Data to Actionable Decisions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640080" y="148140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Planners can view all villages on a map, filter by priority level, search for a specific village, and inspect its full decision trail — making every scheduling choice defensible and transparent.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640080" y="2331720"/>
            <a:ext cx="5166000" cy="1782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1166040" y="2788920"/>
            <a:ext cx="868320" cy="868320"/>
          </a:xfrm>
          <a:prstGeom prst="ellipse">
            <a:avLst/>
          </a:prstGeom>
          <a:solidFill>
            <a:srgbClr val="0B5A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/home/claude/icons/map_white.png"/>
          <p:cNvPicPr/>
          <p:nvPr/>
        </p:nvPicPr>
        <p:blipFill>
          <a:blip r:embed="rId1"/>
          <a:stretch/>
        </p:blipFill>
        <p:spPr>
          <a:xfrm>
            <a:off x="1374480" y="2997360"/>
            <a:ext cx="451440" cy="4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5"/>
          <p:cNvSpPr/>
          <p:nvPr/>
        </p:nvSpPr>
        <p:spPr>
          <a:xfrm>
            <a:off x="2240280" y="260604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Map 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2240280" y="299016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All villages plotted geographically with color-coded priority levels for instant situational awareness.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7"/>
          <p:cNvSpPr/>
          <p:nvPr/>
        </p:nvSpPr>
        <p:spPr>
          <a:xfrm>
            <a:off x="6126480" y="2331720"/>
            <a:ext cx="5166000" cy="1782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6652440" y="2788920"/>
            <a:ext cx="868320" cy="868320"/>
          </a:xfrm>
          <a:prstGeom prst="ellipse">
            <a:avLst/>
          </a:prstGeom>
          <a:solidFill>
            <a:srgbClr val="E887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1" descr="/home/claude/icons/listfilter_white.png"/>
          <p:cNvPicPr/>
          <p:nvPr/>
        </p:nvPicPr>
        <p:blipFill>
          <a:blip r:embed="rId2"/>
          <a:stretch/>
        </p:blipFill>
        <p:spPr>
          <a:xfrm>
            <a:off x="6860880" y="2997360"/>
            <a:ext cx="451440" cy="4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9"/>
          <p:cNvSpPr/>
          <p:nvPr/>
        </p:nvSpPr>
        <p:spPr>
          <a:xfrm>
            <a:off x="7726680" y="260604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Priority Filtering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7726680" y="299016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Sort and filter by priority category to focus resources on the highest-need locations first.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40080" y="4389120"/>
            <a:ext cx="5166000" cy="1782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1166040" y="4846320"/>
            <a:ext cx="868320" cy="868320"/>
          </a:xfrm>
          <a:prstGeom prst="ellipse">
            <a:avLst/>
          </a:prstGeom>
          <a:solidFill>
            <a:srgbClr val="0B5A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2" descr="/home/claude/icons/search_white.png"/>
          <p:cNvPicPr/>
          <p:nvPr/>
        </p:nvPicPr>
        <p:blipFill>
          <a:blip r:embed="rId3"/>
          <a:stretch/>
        </p:blipFill>
        <p:spPr>
          <a:xfrm>
            <a:off x="1374480" y="5054760"/>
            <a:ext cx="451440" cy="4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13"/>
          <p:cNvSpPr/>
          <p:nvPr/>
        </p:nvSpPr>
        <p:spPr>
          <a:xfrm>
            <a:off x="2240280" y="466344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Village Search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4"/>
          <p:cNvSpPr/>
          <p:nvPr/>
        </p:nvSpPr>
        <p:spPr>
          <a:xfrm>
            <a:off x="2240280" y="504756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Quickly locate any village and inspect its individual score breakdown and evidence status.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5"/>
          <p:cNvSpPr/>
          <p:nvPr/>
        </p:nvSpPr>
        <p:spPr>
          <a:xfrm>
            <a:off x="6126480" y="4389120"/>
            <a:ext cx="5166000" cy="1782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6652440" y="4846320"/>
            <a:ext cx="868320" cy="868320"/>
          </a:xfrm>
          <a:prstGeom prst="ellipse">
            <a:avLst/>
          </a:prstGeom>
          <a:solidFill>
            <a:srgbClr val="E887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3" descr="/home/claude/icons/route_white.png"/>
          <p:cNvPicPr/>
          <p:nvPr/>
        </p:nvPicPr>
        <p:blipFill>
          <a:blip r:embed="rId4"/>
          <a:stretch/>
        </p:blipFill>
        <p:spPr>
          <a:xfrm>
            <a:off x="6860880" y="5054760"/>
            <a:ext cx="451440" cy="4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7"/>
          <p:cNvSpPr/>
          <p:nvPr/>
        </p:nvSpPr>
        <p:spPr>
          <a:xfrm>
            <a:off x="7726680" y="466344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Decision Trail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7726680" y="504756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Every ranking includes a transparent explanation — showing which factors drove the recommendation.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9"/>
          <p:cNvSpPr/>
          <p:nvPr/>
        </p:nvSpPr>
        <p:spPr>
          <a:xfrm>
            <a:off x="640080" y="6355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Sehat</a:t>
            </a:r>
            <a:r>
              <a:rPr lang="en-US" sz="12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Route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7B8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88" dur="indefinite" restart="never" nodeType="tmRoot">
          <p:childTnLst>
            <p:seq>
              <p:cTn id="89" dur="indefinite" nodeType="mainSeq">
                <p:childTnLst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4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0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9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0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0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4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5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9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0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4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5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6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0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1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4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5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6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9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0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4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5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9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0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4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0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4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5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9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0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4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5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9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0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1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64008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96A1F"/>
                </a:solidFill>
                <a:effectLst/>
                <a:uFillTx/>
                <a:latin typeface="Calibri"/>
                <a:ea typeface="Calibri"/>
              </a:rPr>
              <a:t>IMPACT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640080" y="7498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Transforming Public Health Outreach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640080" y="148140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SehatRoute empowers health planners to make more informed, equitable, and efficient decisions, ultimately improving health outcomes in underserved communities.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" name=""/>
          <p:cNvGrpSpPr/>
          <p:nvPr/>
        </p:nvGrpSpPr>
        <p:grpSpPr>
          <a:xfrm>
            <a:off x="640080" y="2468880"/>
            <a:ext cx="3346200" cy="3428640"/>
            <a:chOff x="640080" y="2468880"/>
            <a:chExt cx="3346200" cy="3428640"/>
          </a:xfrm>
        </p:grpSpPr>
        <p:sp>
          <p:nvSpPr>
            <p:cNvPr id="147" name="Shape 3"/>
            <p:cNvSpPr/>
            <p:nvPr/>
          </p:nvSpPr>
          <p:spPr>
            <a:xfrm>
              <a:off x="640080" y="2468880"/>
              <a:ext cx="3346200" cy="3428640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0">
              <a:noFill/>
            </a:ln>
            <a:effectLst>
              <a:outerShdw algn="bl" blurRad="127080" dir="5400000" dist="38160" kx="0" ky="0" rotWithShape="0" sx="100000" sy="100000">
                <a:srgbClr val="0B5A62">
                  <a:alpha val="1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Shape 4"/>
            <p:cNvSpPr/>
            <p:nvPr/>
          </p:nvSpPr>
          <p:spPr>
            <a:xfrm>
              <a:off x="1833480" y="2766240"/>
              <a:ext cx="959760" cy="959760"/>
            </a:xfrm>
            <a:prstGeom prst="ellipse">
              <a:avLst/>
            </a:prstGeom>
            <a:solidFill>
              <a:srgbClr val="0B5A6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9" name="Image 0" descr="/home/claude/icons/trendingup_white.png"/>
            <p:cNvPicPr/>
            <p:nvPr/>
          </p:nvPicPr>
          <p:blipFill>
            <a:blip r:embed="rId1"/>
            <a:stretch/>
          </p:blipFill>
          <p:spPr>
            <a:xfrm>
              <a:off x="2063880" y="2996640"/>
              <a:ext cx="498960" cy="498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0" name="Text 5"/>
            <p:cNvSpPr/>
            <p:nvPr/>
          </p:nvSpPr>
          <p:spPr>
            <a:xfrm>
              <a:off x="896040" y="3977640"/>
              <a:ext cx="283428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50" b="1" u="none" strike="noStrike">
                  <a:solidFill>
                    <a:srgbClr val="1F2937"/>
                  </a:solidFill>
                  <a:effectLst/>
                  <a:uFillTx/>
                  <a:latin typeface="Cambria"/>
                  <a:ea typeface="Cambria"/>
                </a:rPr>
                <a:t>Targeted Interventions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Text 6"/>
            <p:cNvSpPr/>
            <p:nvPr/>
          </p:nvSpPr>
          <p:spPr>
            <a:xfrm>
              <a:off x="932760" y="4617720"/>
              <a:ext cx="2761200" cy="11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1250" b="0" u="none" strike="noStrike">
                  <a:solidFill>
                    <a:srgbClr val="5B6B6E"/>
                  </a:solidFill>
                  <a:effectLst/>
                  <a:uFillTx/>
                  <a:latin typeface="Calibri"/>
                  <a:ea typeface="Calibri"/>
                </a:rPr>
                <a:t>Focus resources where they are needed most, reducing wasted effort and maximizing impact.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2" name=""/>
          <p:cNvGrpSpPr/>
          <p:nvPr/>
        </p:nvGrpSpPr>
        <p:grpSpPr>
          <a:xfrm>
            <a:off x="4242960" y="2468880"/>
            <a:ext cx="3346200" cy="3428640"/>
            <a:chOff x="4242960" y="2468880"/>
            <a:chExt cx="3346200" cy="3428640"/>
          </a:xfrm>
        </p:grpSpPr>
        <p:sp>
          <p:nvSpPr>
            <p:cNvPr id="153" name="Shape 7"/>
            <p:cNvSpPr/>
            <p:nvPr/>
          </p:nvSpPr>
          <p:spPr>
            <a:xfrm>
              <a:off x="4242960" y="2468880"/>
              <a:ext cx="3346200" cy="3428640"/>
            </a:xfrm>
            <a:prstGeom prst="roundRect">
              <a:avLst>
                <a:gd name="adj" fmla="val 2459"/>
              </a:avLst>
            </a:prstGeom>
            <a:solidFill>
              <a:srgbClr val="0B5A62"/>
            </a:solidFill>
            <a:ln w="0">
              <a:noFill/>
            </a:ln>
            <a:effectLst>
              <a:outerShdw algn="bl" blurRad="127080" dir="5400000" dist="38160" kx="0" ky="0" rotWithShape="0" sx="100000" sy="100000">
                <a:srgbClr val="0B5A62">
                  <a:alpha val="1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Shape 8"/>
            <p:cNvSpPr/>
            <p:nvPr/>
          </p:nvSpPr>
          <p:spPr>
            <a:xfrm>
              <a:off x="5436000" y="2766240"/>
              <a:ext cx="959760" cy="959760"/>
            </a:xfrm>
            <a:prstGeom prst="ellipse">
              <a:avLst/>
            </a:prstGeom>
            <a:solidFill>
              <a:srgbClr val="E887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5" name="Image 1" descr="/home/claude/icons/scale_white.png"/>
            <p:cNvPicPr/>
            <p:nvPr/>
          </p:nvPicPr>
          <p:blipFill>
            <a:blip r:embed="rId2"/>
            <a:stretch/>
          </p:blipFill>
          <p:spPr>
            <a:xfrm>
              <a:off x="5666400" y="2996640"/>
              <a:ext cx="498960" cy="498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6" name="Text 9"/>
            <p:cNvSpPr/>
            <p:nvPr/>
          </p:nvSpPr>
          <p:spPr>
            <a:xfrm>
              <a:off x="4498920" y="3977640"/>
              <a:ext cx="283428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5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Equitable Access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Text 10"/>
            <p:cNvSpPr/>
            <p:nvPr/>
          </p:nvSpPr>
          <p:spPr>
            <a:xfrm>
              <a:off x="4535280" y="4617720"/>
              <a:ext cx="2761200" cy="11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1250" b="0" u="none" strike="noStrike">
                  <a:solidFill>
                    <a:srgbClr val="D8ECEA"/>
                  </a:solidFill>
                  <a:effectLst/>
                  <a:uFillTx/>
                  <a:latin typeface="Calibri"/>
                  <a:ea typeface="Calibri"/>
                </a:rPr>
                <a:t>Address hidden barriers to healthcare, ensuring vulnerable populations are not overlooked.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" name=""/>
          <p:cNvGrpSpPr/>
          <p:nvPr/>
        </p:nvGrpSpPr>
        <p:grpSpPr>
          <a:xfrm>
            <a:off x="7845480" y="2468880"/>
            <a:ext cx="3346200" cy="3428640"/>
            <a:chOff x="7845480" y="2468880"/>
            <a:chExt cx="3346200" cy="3428640"/>
          </a:xfrm>
        </p:grpSpPr>
        <p:sp>
          <p:nvSpPr>
            <p:cNvPr id="159" name="Shape 11"/>
            <p:cNvSpPr/>
            <p:nvPr/>
          </p:nvSpPr>
          <p:spPr>
            <a:xfrm>
              <a:off x="7845480" y="2468880"/>
              <a:ext cx="3346200" cy="3428640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0">
              <a:noFill/>
            </a:ln>
            <a:effectLst>
              <a:outerShdw algn="bl" blurRad="127080" dir="5400000" dist="38160" kx="0" ky="0" rotWithShape="0" sx="100000" sy="100000">
                <a:srgbClr val="0B5A62">
                  <a:alpha val="1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Shape 12"/>
            <p:cNvSpPr/>
            <p:nvPr/>
          </p:nvSpPr>
          <p:spPr>
            <a:xfrm>
              <a:off x="9038880" y="2766240"/>
              <a:ext cx="959760" cy="959760"/>
            </a:xfrm>
            <a:prstGeom prst="ellipse">
              <a:avLst/>
            </a:prstGeom>
            <a:solidFill>
              <a:srgbClr val="0B5A6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1" name="Image 2" descr="/home/claude/icons/heartpulse_white.png"/>
            <p:cNvPicPr/>
            <p:nvPr/>
          </p:nvPicPr>
          <p:blipFill>
            <a:blip r:embed="rId3"/>
            <a:stretch/>
          </p:blipFill>
          <p:spPr>
            <a:xfrm>
              <a:off x="9269280" y="2996640"/>
              <a:ext cx="498960" cy="498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2" name="Text 13"/>
            <p:cNvSpPr/>
            <p:nvPr/>
          </p:nvSpPr>
          <p:spPr>
            <a:xfrm>
              <a:off x="8101440" y="3977640"/>
              <a:ext cx="283428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50" b="1" u="none" strike="noStrike">
                  <a:solidFill>
                    <a:srgbClr val="1F2937"/>
                  </a:solidFill>
                  <a:effectLst/>
                  <a:uFillTx/>
                  <a:latin typeface="Cambria"/>
                  <a:ea typeface="Cambria"/>
                </a:rPr>
                <a:t>Improved Outcomes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Text 14"/>
            <p:cNvSpPr/>
            <p:nvPr/>
          </p:nvSpPr>
          <p:spPr>
            <a:xfrm>
              <a:off x="8138160" y="4617720"/>
              <a:ext cx="2761200" cy="11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1250" b="0" u="none" strike="noStrike">
                  <a:solidFill>
                    <a:srgbClr val="5B6B6E"/>
                  </a:solidFill>
                  <a:effectLst/>
                  <a:uFillTx/>
                  <a:latin typeface="Calibri"/>
                  <a:ea typeface="Calibri"/>
                </a:rPr>
                <a:t>By prioritizing effectively, SehatRoute contributes to better health for entire communities.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4" name="Text 15"/>
          <p:cNvSpPr/>
          <p:nvPr/>
        </p:nvSpPr>
        <p:spPr>
          <a:xfrm>
            <a:off x="640080" y="6355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Sehat</a:t>
            </a:r>
            <a:r>
              <a:rPr lang="en-US" sz="12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Route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7B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192" dur="indefinite" restart="never" nodeType="tmRoot">
          <p:childTnLst>
            <p:seq>
              <p:cTn id="193" dur="indefinite" nodeType="mainSeq">
                <p:childTnLst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8" dur="2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3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8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64008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96A1F"/>
                </a:solidFill>
                <a:effectLst/>
                <a:uFillTx/>
                <a:latin typeface="Calibri"/>
                <a:ea typeface="Calibri"/>
              </a:rPr>
              <a:t>FUTURE VISION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640080" y="7498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Expanding SehatRoute’s Reach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640080" y="148140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We envision SehatRoute evolving to integrate more data sources and offer predictive analytics, further enhancing its utility for public health planning.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9" name=""/>
          <p:cNvGrpSpPr/>
          <p:nvPr/>
        </p:nvGrpSpPr>
        <p:grpSpPr>
          <a:xfrm>
            <a:off x="640080" y="2468880"/>
            <a:ext cx="3346200" cy="3428640"/>
            <a:chOff x="640080" y="2468880"/>
            <a:chExt cx="3346200" cy="3428640"/>
          </a:xfrm>
        </p:grpSpPr>
        <p:sp>
          <p:nvSpPr>
            <p:cNvPr id="170" name="Shape 3"/>
            <p:cNvSpPr/>
            <p:nvPr/>
          </p:nvSpPr>
          <p:spPr>
            <a:xfrm>
              <a:off x="640080" y="2468880"/>
              <a:ext cx="3346200" cy="3428640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0">
              <a:noFill/>
            </a:ln>
            <a:effectLst>
              <a:outerShdw algn="bl" blurRad="127080" dir="5400000" dist="38160" kx="0" ky="0" rotWithShape="0" sx="100000" sy="100000">
                <a:srgbClr val="0B5A62">
                  <a:alpha val="1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Text 4"/>
            <p:cNvSpPr/>
            <p:nvPr/>
          </p:nvSpPr>
          <p:spPr>
            <a:xfrm>
              <a:off x="896040" y="2651760"/>
              <a:ext cx="127980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600" b="1" u="none" strike="noStrike">
                  <a:solidFill>
                    <a:srgbClr val="D8E9E7"/>
                  </a:solidFill>
                  <a:effectLst/>
                  <a:uFillTx/>
                  <a:latin typeface="Cambria"/>
                  <a:ea typeface="Cambria"/>
                </a:rPr>
                <a:t>01</a:t>
              </a:r>
              <a:endPara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Shape 5"/>
            <p:cNvSpPr/>
            <p:nvPr/>
          </p:nvSpPr>
          <p:spPr>
            <a:xfrm>
              <a:off x="2866680" y="2583360"/>
              <a:ext cx="868320" cy="868320"/>
            </a:xfrm>
            <a:prstGeom prst="ellipse">
              <a:avLst/>
            </a:prstGeom>
            <a:solidFill>
              <a:srgbClr val="0B5A6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3" name="Image 0" descr="/home/claude/icons/satellite_white.png"/>
            <p:cNvPicPr/>
            <p:nvPr/>
          </p:nvPicPr>
          <p:blipFill>
            <a:blip r:embed="rId1"/>
            <a:stretch/>
          </p:blipFill>
          <p:spPr>
            <a:xfrm>
              <a:off x="3075120" y="2791800"/>
              <a:ext cx="451440" cy="451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4" name="Text 6"/>
            <p:cNvSpPr/>
            <p:nvPr/>
          </p:nvSpPr>
          <p:spPr>
            <a:xfrm>
              <a:off x="896040" y="3520440"/>
              <a:ext cx="283428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10000"/>
                </a:lnSpc>
                <a:tabLst>
                  <a:tab pos="0" algn="l"/>
                </a:tabLst>
              </a:pPr>
              <a:r>
                <a:rPr lang="en-US" sz="1550" b="1" u="none" strike="noStrike">
                  <a:solidFill>
                    <a:srgbClr val="1F2937"/>
                  </a:solidFill>
                  <a:effectLst/>
                  <a:uFillTx/>
                  <a:latin typeface="Cambria"/>
                  <a:ea typeface="Cambria"/>
                </a:rPr>
                <a:t>Real-time Data Integration</a:t>
              </a:r>
              <a:endParaRPr lang="en-US" sz="15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Text 7"/>
            <p:cNvSpPr/>
            <p:nvPr/>
          </p:nvSpPr>
          <p:spPr>
            <a:xfrm>
              <a:off x="896040" y="4160520"/>
              <a:ext cx="2834280" cy="15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1200" b="0" u="none" strike="noStrike">
                  <a:solidFill>
                    <a:srgbClr val="5B6B6E"/>
                  </a:solidFill>
                  <a:effectLst/>
                  <a:uFillTx/>
                  <a:latin typeface="Calibri"/>
                  <a:ea typeface="Calibri"/>
                </a:rPr>
                <a:t>Incorporate live data feeds for disease outbreaks, weather events, and population shifts.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" name="Shape 8"/>
          <p:cNvSpPr/>
          <p:nvPr/>
        </p:nvSpPr>
        <p:spPr>
          <a:xfrm>
            <a:off x="4242960" y="2468880"/>
            <a:ext cx="3346200" cy="342864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4498920" y="265176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8E9E7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0"/>
          <p:cNvSpPr/>
          <p:nvPr/>
        </p:nvSpPr>
        <p:spPr>
          <a:xfrm>
            <a:off x="6469560" y="2583360"/>
            <a:ext cx="868320" cy="868320"/>
          </a:xfrm>
          <a:prstGeom prst="ellipse">
            <a:avLst/>
          </a:prstGeom>
          <a:solidFill>
            <a:srgbClr val="0B5A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1" descr="/home/claude/icons/brain_white.png"/>
          <p:cNvPicPr/>
          <p:nvPr/>
        </p:nvPicPr>
        <p:blipFill>
          <a:blip r:embed="rId2"/>
          <a:stretch/>
        </p:blipFill>
        <p:spPr>
          <a:xfrm>
            <a:off x="6678000" y="2791800"/>
            <a:ext cx="451440" cy="4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11"/>
          <p:cNvSpPr/>
          <p:nvPr/>
        </p:nvSpPr>
        <p:spPr>
          <a:xfrm>
            <a:off x="4498920" y="352044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Predictive Modeling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4498920" y="4160520"/>
            <a:ext cx="28342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Forecast future health needs and potential access challenges to proactively plan interventions.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7845480" y="2468880"/>
            <a:ext cx="3346200" cy="342864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8101440" y="265176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8E9E7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5"/>
          <p:cNvSpPr/>
          <p:nvPr/>
        </p:nvSpPr>
        <p:spPr>
          <a:xfrm>
            <a:off x="10072080" y="2583360"/>
            <a:ext cx="868320" cy="868320"/>
          </a:xfrm>
          <a:prstGeom prst="ellipse">
            <a:avLst/>
          </a:prstGeom>
          <a:solidFill>
            <a:srgbClr val="0B5A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2" descr="/home/claude/icons/messagecircle_white.png"/>
          <p:cNvPicPr/>
          <p:nvPr/>
        </p:nvPicPr>
        <p:blipFill>
          <a:blip r:embed="rId3"/>
          <a:stretch/>
        </p:blipFill>
        <p:spPr>
          <a:xfrm>
            <a:off x="10280520" y="2791800"/>
            <a:ext cx="451440" cy="4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16"/>
          <p:cNvSpPr/>
          <p:nvPr/>
        </p:nvSpPr>
        <p:spPr>
          <a:xfrm>
            <a:off x="8101440" y="352044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Community Feedback Loop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8101440" y="4160520"/>
            <a:ext cx="28342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Integrate direct input from local communities to refine prioritization criteria and ensure relevance.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640080" y="6355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Sehat</a:t>
            </a:r>
            <a:r>
              <a:rPr lang="en-US" sz="12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Route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7B8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209" dur="indefinite" restart="never" nodeType="tmRoot">
          <p:childTnLst>
            <p:seq>
              <p:cTn id="210" dur="indefinite" nodeType="mainSeq">
                <p:childTnLst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5" dur="2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8" dur="2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1" dur="2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4"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7" dur="2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0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5" dur="2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8" dur="2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1"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4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7"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0" dur="2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64008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96A1F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640080" y="7498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36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What’s Next: Feature Scope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640080" y="146304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A phased plan for taking SehatRoute from prototype to a full field-ready platform for public health teams.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640080" y="2148840"/>
            <a:ext cx="3501720" cy="425160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640080" y="2148840"/>
            <a:ext cx="3501720" cy="914040"/>
          </a:xfrm>
          <a:prstGeom prst="roundRect">
            <a:avLst>
              <a:gd name="adj" fmla="val 10000"/>
            </a:avLst>
          </a:prstGeom>
          <a:solidFill>
            <a:srgbClr val="0B5A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640080" y="2606040"/>
            <a:ext cx="3501720" cy="456840"/>
          </a:xfrm>
          <a:prstGeom prst="rect">
            <a:avLst/>
          </a:prstGeom>
          <a:solidFill>
            <a:srgbClr val="0B5A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896040" y="22950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2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896040" y="26244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Near-term · 0–3 months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Image 0" descr="/home/claude/icons/mic_teal.png"/>
          <p:cNvPicPr/>
          <p:nvPr/>
        </p:nvPicPr>
        <p:blipFill>
          <a:blip r:embed="rId1"/>
          <a:stretch/>
        </p:blipFill>
        <p:spPr>
          <a:xfrm>
            <a:off x="877680" y="32828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 8"/>
          <p:cNvSpPr/>
          <p:nvPr/>
        </p:nvSpPr>
        <p:spPr>
          <a:xfrm>
            <a:off x="1298520" y="3227760"/>
            <a:ext cx="258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Multilingual voice interface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1298520" y="3538800"/>
            <a:ext cx="258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Hindi &amp; regional-language support for ASHA and frontline workers.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1" descr="/home/claude/icons/wifioff_teal.png"/>
          <p:cNvPicPr/>
          <p:nvPr/>
        </p:nvPicPr>
        <p:blipFill>
          <a:blip r:embed="rId2"/>
          <a:stretch/>
        </p:blipFill>
        <p:spPr>
          <a:xfrm>
            <a:off x="877680" y="433440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0"/>
          <p:cNvSpPr/>
          <p:nvPr/>
        </p:nvSpPr>
        <p:spPr>
          <a:xfrm>
            <a:off x="1298520" y="4279320"/>
            <a:ext cx="258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Offline-first mode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1298520" y="4590360"/>
            <a:ext cx="258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Local sync with SMS fallback for low-connectivity hamlets.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4316040" y="2148840"/>
            <a:ext cx="3501720" cy="425160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3"/>
          <p:cNvSpPr/>
          <p:nvPr/>
        </p:nvSpPr>
        <p:spPr>
          <a:xfrm>
            <a:off x="4316040" y="2148840"/>
            <a:ext cx="3501720" cy="914040"/>
          </a:xfrm>
          <a:prstGeom prst="roundRect">
            <a:avLst>
              <a:gd name="adj" fmla="val 10000"/>
            </a:avLst>
          </a:prstGeom>
          <a:solidFill>
            <a:srgbClr val="E887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4"/>
          <p:cNvSpPr/>
          <p:nvPr/>
        </p:nvSpPr>
        <p:spPr>
          <a:xfrm>
            <a:off x="4316040" y="2606040"/>
            <a:ext cx="3501720" cy="456840"/>
          </a:xfrm>
          <a:prstGeom prst="rect">
            <a:avLst/>
          </a:prstGeom>
          <a:solidFill>
            <a:srgbClr val="E887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4572000" y="22950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2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6"/>
          <p:cNvSpPr/>
          <p:nvPr/>
        </p:nvSpPr>
        <p:spPr>
          <a:xfrm>
            <a:off x="4572000" y="26244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Mid-term · 3–9 months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2" descr="/home/claude/icons/satellite_accent.png"/>
          <p:cNvPicPr/>
          <p:nvPr/>
        </p:nvPicPr>
        <p:blipFill>
          <a:blip r:embed="rId3"/>
          <a:stretch/>
        </p:blipFill>
        <p:spPr>
          <a:xfrm>
            <a:off x="4553640" y="32828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17"/>
          <p:cNvSpPr/>
          <p:nvPr/>
        </p:nvSpPr>
        <p:spPr>
          <a:xfrm>
            <a:off x="4974480" y="3227760"/>
            <a:ext cx="258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Live hazard &amp; outbreak feeds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4974480" y="3538800"/>
            <a:ext cx="258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Real-time weather, flood, and disease-surveillance data.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3" descr="/home/claude/icons/hearthandshake_accent.png"/>
          <p:cNvPicPr/>
          <p:nvPr/>
        </p:nvPicPr>
        <p:blipFill>
          <a:blip r:embed="rId4"/>
          <a:stretch/>
        </p:blipFill>
        <p:spPr>
          <a:xfrm>
            <a:off x="4553640" y="433440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19"/>
          <p:cNvSpPr/>
          <p:nvPr/>
        </p:nvSpPr>
        <p:spPr>
          <a:xfrm>
            <a:off x="4974480" y="4279320"/>
            <a:ext cx="258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Telemedicine referral links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0"/>
          <p:cNvSpPr/>
          <p:nvPr/>
        </p:nvSpPr>
        <p:spPr>
          <a:xfrm>
            <a:off x="4974480" y="4590360"/>
            <a:ext cx="258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Direct handoff to district hospitals for flagged cases.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1"/>
          <p:cNvSpPr/>
          <p:nvPr/>
        </p:nvSpPr>
        <p:spPr>
          <a:xfrm>
            <a:off x="7992000" y="2148840"/>
            <a:ext cx="3501720" cy="425160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0B5A62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2"/>
          <p:cNvSpPr/>
          <p:nvPr/>
        </p:nvSpPr>
        <p:spPr>
          <a:xfrm>
            <a:off x="7992000" y="2148840"/>
            <a:ext cx="3501720" cy="914040"/>
          </a:xfrm>
          <a:prstGeom prst="roundRect">
            <a:avLst>
              <a:gd name="adj" fmla="val 10000"/>
            </a:avLst>
          </a:prstGeom>
          <a:solidFill>
            <a:srgbClr val="C96A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3"/>
          <p:cNvSpPr/>
          <p:nvPr/>
        </p:nvSpPr>
        <p:spPr>
          <a:xfrm>
            <a:off x="7992000" y="2606040"/>
            <a:ext cx="3501720" cy="456840"/>
          </a:xfrm>
          <a:prstGeom prst="rect">
            <a:avLst/>
          </a:prstGeom>
          <a:solidFill>
            <a:srgbClr val="C96A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4"/>
          <p:cNvSpPr/>
          <p:nvPr/>
        </p:nvSpPr>
        <p:spPr>
          <a:xfrm>
            <a:off x="8247960" y="22950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2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8247960" y="26244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Long-term · 9–18+ months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4" descr="/home/claude/icons/brain_accent2.png"/>
          <p:cNvPicPr/>
          <p:nvPr/>
        </p:nvPicPr>
        <p:blipFill>
          <a:blip r:embed="rId5"/>
          <a:stretch/>
        </p:blipFill>
        <p:spPr>
          <a:xfrm>
            <a:off x="8229600" y="32828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 26"/>
          <p:cNvSpPr/>
          <p:nvPr/>
        </p:nvSpPr>
        <p:spPr>
          <a:xfrm>
            <a:off x="8650080" y="3227760"/>
            <a:ext cx="258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Predictive outreach modeling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7"/>
          <p:cNvSpPr/>
          <p:nvPr/>
        </p:nvSpPr>
        <p:spPr>
          <a:xfrm>
            <a:off x="8650080" y="3538800"/>
            <a:ext cx="258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Forecast emerging need from historical and seasonal trends.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5" descr="/home/claude/icons/landmark_accent2.png"/>
          <p:cNvPicPr/>
          <p:nvPr/>
        </p:nvPicPr>
        <p:blipFill>
          <a:blip r:embed="rId6"/>
          <a:stretch/>
        </p:blipFill>
        <p:spPr>
          <a:xfrm>
            <a:off x="8229600" y="433440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28"/>
          <p:cNvSpPr/>
          <p:nvPr/>
        </p:nvSpPr>
        <p:spPr>
          <a:xfrm>
            <a:off x="8650080" y="4279320"/>
            <a:ext cx="258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Govt. scheme integration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9"/>
          <p:cNvSpPr/>
          <p:nvPr/>
        </p:nvSpPr>
        <p:spPr>
          <a:xfrm>
            <a:off x="8650080" y="4590360"/>
            <a:ext cx="258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Sync with Ayushman Bharat and state health databases.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6" descr="/home/claude/icons/globe_accent2.png"/>
          <p:cNvPicPr/>
          <p:nvPr/>
        </p:nvPicPr>
        <p:blipFill>
          <a:blip r:embed="rId7"/>
          <a:stretch/>
        </p:blipFill>
        <p:spPr>
          <a:xfrm>
            <a:off x="8229600" y="53859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30"/>
          <p:cNvSpPr/>
          <p:nvPr/>
        </p:nvSpPr>
        <p:spPr>
          <a:xfrm>
            <a:off x="8650080" y="5330880"/>
            <a:ext cx="258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Multi-state expansion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1"/>
          <p:cNvSpPr/>
          <p:nvPr/>
        </p:nvSpPr>
        <p:spPr>
          <a:xfrm>
            <a:off x="8650080" y="5641920"/>
            <a:ext cx="2587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5B6B6E"/>
                </a:solidFill>
                <a:effectLst/>
                <a:uFillTx/>
                <a:latin typeface="Calibri"/>
                <a:ea typeface="Calibri"/>
              </a:rPr>
              <a:t>Scale the model to new districts and states.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2"/>
          <p:cNvSpPr/>
          <p:nvPr/>
        </p:nvSpPr>
        <p:spPr>
          <a:xfrm>
            <a:off x="640080" y="6355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Sehat</a:t>
            </a:r>
            <a:r>
              <a:rPr lang="en-US" sz="12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Route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3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7B8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  <p:timing>
    <p:tnLst>
      <p:par>
        <p:cTn id="251" dur="indefinite" restart="never" nodeType="tmRoot">
          <p:childTnLst>
            <p:seq>
              <p:cTn id="252" dur="indefinite" nodeType="mainSeq">
                <p:childTnLst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5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5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6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6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2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3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7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7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8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7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8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8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2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3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9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8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9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0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0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2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1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7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8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1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2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3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2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2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2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3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7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8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3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2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3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4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7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8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4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2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3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5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7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8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5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2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6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6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2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3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7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7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8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7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2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3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8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7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8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8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2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3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9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7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8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9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2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3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0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7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0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2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1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1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3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 flipV="1">
            <a:off x="0" y="5216400"/>
            <a:ext cx="1228680" cy="1051560"/>
          </a:xfrm>
          <a:prstGeom prst="line">
            <a:avLst/>
          </a:prstGeom>
          <a:ln w="25400">
            <a:solidFill>
              <a:srgbClr val="3E8E8A">
                <a:alpha val="30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"/>
          <p:cNvSpPr/>
          <p:nvPr/>
        </p:nvSpPr>
        <p:spPr>
          <a:xfrm>
            <a:off x="1228680" y="5216400"/>
            <a:ext cx="1316880" cy="568080"/>
          </a:xfrm>
          <a:prstGeom prst="line">
            <a:avLst/>
          </a:prstGeom>
          <a:ln w="25400">
            <a:solidFill>
              <a:srgbClr val="3E8E8A">
                <a:alpha val="30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 flipV="1">
            <a:off x="2545560" y="4480560"/>
            <a:ext cx="1843560" cy="1303920"/>
          </a:xfrm>
          <a:prstGeom prst="line">
            <a:avLst/>
          </a:prstGeom>
          <a:ln w="25400">
            <a:solidFill>
              <a:srgbClr val="3E8E8A">
                <a:alpha val="30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-32040" y="6236280"/>
            <a:ext cx="63720" cy="63720"/>
          </a:xfrm>
          <a:prstGeom prst="ellipse">
            <a:avLst/>
          </a:prstGeom>
          <a:solidFill>
            <a:srgbClr val="3E8E8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4"/>
          <p:cNvSpPr/>
          <p:nvPr/>
        </p:nvSpPr>
        <p:spPr>
          <a:xfrm>
            <a:off x="1197000" y="5184720"/>
            <a:ext cx="63720" cy="63720"/>
          </a:xfrm>
          <a:prstGeom prst="ellipse">
            <a:avLst/>
          </a:prstGeom>
          <a:solidFill>
            <a:srgbClr val="3E8E8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5"/>
          <p:cNvSpPr/>
          <p:nvPr/>
        </p:nvSpPr>
        <p:spPr>
          <a:xfrm>
            <a:off x="2513520" y="5752440"/>
            <a:ext cx="63720" cy="63720"/>
          </a:xfrm>
          <a:prstGeom prst="ellipse">
            <a:avLst/>
          </a:prstGeom>
          <a:solidFill>
            <a:srgbClr val="3E8E8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6"/>
          <p:cNvSpPr/>
          <p:nvPr/>
        </p:nvSpPr>
        <p:spPr>
          <a:xfrm>
            <a:off x="4334400" y="4425840"/>
            <a:ext cx="109440" cy="109440"/>
          </a:xfrm>
          <a:prstGeom prst="ellipse">
            <a:avLst/>
          </a:prstGeom>
          <a:solidFill>
            <a:srgbClr val="3E8E8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7"/>
          <p:cNvSpPr/>
          <p:nvPr/>
        </p:nvSpPr>
        <p:spPr>
          <a:xfrm flipV="1">
            <a:off x="8961120" y="1005840"/>
            <a:ext cx="870480" cy="914400"/>
          </a:xfrm>
          <a:prstGeom prst="line">
            <a:avLst/>
          </a:prstGeom>
          <a:ln w="25400">
            <a:solidFill>
              <a:srgbClr val="3E8E8A">
                <a:alpha val="22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8"/>
          <p:cNvSpPr/>
          <p:nvPr/>
        </p:nvSpPr>
        <p:spPr>
          <a:xfrm>
            <a:off x="9831600" y="1005840"/>
            <a:ext cx="932400" cy="493560"/>
          </a:xfrm>
          <a:prstGeom prst="line">
            <a:avLst/>
          </a:prstGeom>
          <a:ln w="25400">
            <a:solidFill>
              <a:srgbClr val="3E8E8A">
                <a:alpha val="22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 flipV="1">
            <a:off x="10764000" y="365760"/>
            <a:ext cx="1306080" cy="1133640"/>
          </a:xfrm>
          <a:prstGeom prst="line">
            <a:avLst/>
          </a:prstGeom>
          <a:ln w="25400">
            <a:solidFill>
              <a:srgbClr val="3E8E8A">
                <a:alpha val="22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0"/>
          <p:cNvSpPr/>
          <p:nvPr/>
        </p:nvSpPr>
        <p:spPr>
          <a:xfrm>
            <a:off x="8929080" y="1888200"/>
            <a:ext cx="63720" cy="63720"/>
          </a:xfrm>
          <a:prstGeom prst="ellipse">
            <a:avLst/>
          </a:prstGeom>
          <a:solidFill>
            <a:srgbClr val="3E8E8A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1"/>
          <p:cNvSpPr/>
          <p:nvPr/>
        </p:nvSpPr>
        <p:spPr>
          <a:xfrm>
            <a:off x="9799560" y="973800"/>
            <a:ext cx="63720" cy="63720"/>
          </a:xfrm>
          <a:prstGeom prst="ellipse">
            <a:avLst/>
          </a:prstGeom>
          <a:solidFill>
            <a:srgbClr val="3E8E8A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2"/>
          <p:cNvSpPr/>
          <p:nvPr/>
        </p:nvSpPr>
        <p:spPr>
          <a:xfrm>
            <a:off x="10732320" y="1467720"/>
            <a:ext cx="63720" cy="63720"/>
          </a:xfrm>
          <a:prstGeom prst="ellipse">
            <a:avLst/>
          </a:prstGeom>
          <a:solidFill>
            <a:srgbClr val="3E8E8A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3"/>
          <p:cNvSpPr/>
          <p:nvPr/>
        </p:nvSpPr>
        <p:spPr>
          <a:xfrm>
            <a:off x="12015360" y="311040"/>
            <a:ext cx="109440" cy="109440"/>
          </a:xfrm>
          <a:prstGeom prst="ellipse">
            <a:avLst/>
          </a:prstGeom>
          <a:solidFill>
            <a:srgbClr val="3E8E8A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777240" y="2103120"/>
            <a:ext cx="9143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</a:t>
            </a:r>
            <a:r>
              <a:rPr lang="en-US" sz="6000" b="1" u="none" strike="noStrike">
                <a:solidFill>
                  <a:srgbClr val="E8873A"/>
                </a:solidFill>
                <a:effectLst/>
                <a:uFillTx/>
                <a:latin typeface="Cambria"/>
                <a:ea typeface="Cambria"/>
              </a:rPr>
              <a:t>You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822960" y="32461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FE8E5"/>
                </a:solidFill>
                <a:effectLst/>
                <a:uFillTx/>
                <a:latin typeface="Calibri"/>
                <a:ea typeface="Calibri"/>
              </a:rPr>
              <a:t>The complete source code and project documentation have been published to GitHub. Please refer to the link below to view the repository and also the to visit  official website.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6"/>
          <p:cNvSpPr/>
          <p:nvPr/>
        </p:nvSpPr>
        <p:spPr>
          <a:xfrm>
            <a:off x="1234440" y="3886200"/>
            <a:ext cx="6766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https://github.com/gangaviswakumar-gif/Health_Camp_Plannzer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7"/>
          <p:cNvSpPr/>
          <p:nvPr/>
        </p:nvSpPr>
        <p:spPr>
          <a:xfrm>
            <a:off x="1234440" y="44164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8"/>
          <p:cNvSpPr/>
          <p:nvPr/>
        </p:nvSpPr>
        <p:spPr>
          <a:xfrm>
            <a:off x="11277360" y="6355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BDBB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0" name=""/>
          <p:cNvPicPr/>
          <p:nvPr/>
        </p:nvPicPr>
        <p:blipFill>
          <a:blip r:embed="rId1"/>
          <a:stretch/>
        </p:blipFill>
        <p:spPr>
          <a:xfrm>
            <a:off x="914400" y="3977280"/>
            <a:ext cx="22860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"/>
          <p:cNvSpPr txBox="1"/>
          <p:nvPr/>
        </p:nvSpPr>
        <p:spPr>
          <a:xfrm>
            <a:off x="1143000" y="4343400"/>
            <a:ext cx="594360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https://gangaviswakumar-gif.github.io/Health_Camp_Plannzer/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2" name=""/>
          <p:cNvPicPr/>
          <p:nvPr/>
        </p:nvPicPr>
        <p:blipFill>
          <a:blip r:embed="rId2"/>
          <a:stretch/>
        </p:blipFill>
        <p:spPr>
          <a:xfrm>
            <a:off x="914400" y="4343400"/>
            <a:ext cx="228600" cy="22860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2026-09-16T04:15:41Z</dcterms:created>
  <dc:creator>PptxGenJS</dc:creator>
  <dc:description/>
  <dc:language>en-US</dc:language>
  <cp:lastModifiedBy/>
  <dcterms:modified xsi:type="dcterms:W3CDTF">2026-09-16T12:12:35Z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